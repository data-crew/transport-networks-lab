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Evolución de estaciones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Estaciones (nodos)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Volumen de retiros de bicicletas por hora del día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Salidas por hora</c:v>
                </c:pt>
              </c:strCache>
            </c:strRef>
          </c:tx>
          <c:spPr>
            <a:solidFill>
              <a:srgbClr val="E8734A"/>
            </a:solidFill>
            <a:ln w="31750" cap="flat">
              <a:solidFill>
                <a:srgbClr val="E87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734A"/>
              </a:solidFill>
              <a:ln w="9525" cap="flat">
                <a:solidFill>
                  <a:srgbClr val="E87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6</c:v>
                  </c:pt>
                  <c:pt idx="1">
                    <c:v>8</c:v>
                  </c:pt>
                  <c:pt idx="2">
                    <c:v>10</c:v>
                  </c:pt>
                  <c:pt idx="3">
                    <c:v>12</c:v>
                  </c:pt>
                  <c:pt idx="4">
                    <c:v>14</c:v>
                  </c:pt>
                  <c:pt idx="5">
                    <c:v>16</c:v>
                  </c:pt>
                  <c:pt idx="6">
                    <c:v>18</c:v>
                  </c:pt>
                  <c:pt idx="7">
                    <c:v>20</c:v>
                  </c:pt>
                  <c:pt idx="8">
                    <c:v>22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40</c:v>
                </c:pt>
                <c:pt idx="2">
                  <c:v>18</c:v>
                </c:pt>
                <c:pt idx="3">
                  <c:v>22</c:v>
                </c:pt>
                <c:pt idx="4">
                  <c:v>20</c:v>
                </c:pt>
                <c:pt idx="5">
                  <c:v>25</c:v>
                </c:pt>
                <c:pt idx="6">
                  <c:v>45</c:v>
                </c:pt>
                <c:pt idx="7">
                  <c:v>20</c:v>
                </c:pt>
                <c:pt idx="8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Arial"/>
                  </a:rPr>
                  <a:t>Hora del día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Grafos y redes de transporte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3291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guiadas 1 y 2 — diapositivas de apoyo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grafos con NetworkX  +  caso de uso: red de bicicletas EcoBici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8475078" y="4765474"/>
            <a:ext cx="1228115" cy="23027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62630" y="4774855"/>
            <a:ext cx="1232788" cy="385246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37323" y="5081000"/>
            <a:ext cx="608682" cy="989108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125940" y="4823916"/>
            <a:ext cx="621336" cy="124267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25806" y="4821242"/>
            <a:ext cx="785229" cy="1334889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689564" y="5258256"/>
            <a:ext cx="447600" cy="89520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71305" y="6144761"/>
            <a:ext cx="1399285" cy="77738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1896" y="4928616"/>
            <a:ext cx="164592" cy="164592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1784" y="4668012"/>
            <a:ext cx="164592" cy="164592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91672" y="5102352"/>
            <a:ext cx="164592" cy="164592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06840" y="6057900"/>
            <a:ext cx="164592" cy="164592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70464" y="6144768"/>
            <a:ext cx="164592" cy="164592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clases, una misma lógica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 grafo: nodos y ejes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grafo: dirigido, multigrafo, self-loops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grado, centralidad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Caminos: shortest path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901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uso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8346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dataset de viajes a un grafo real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decisión (¿dirigido? ¿multigrafo?), ahora con datos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sobre la red EcoBici real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uso en el tiempo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9904" y="1874520"/>
            <a:ext cx="0" cy="3840480"/>
          </a:xfrm>
          <a:prstGeom prst="line">
            <a:avLst/>
          </a:prstGeom>
          <a:noFill/>
          <a:ln w="19050">
            <a:solidFill>
              <a:srgbClr val="EA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383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grafo como estructura de datos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 1 — teoría con ejemplos simples (toy examples)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UNA 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grafo?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655854" y="2186276"/>
            <a:ext cx="1808932" cy="473768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01199" y="2294415"/>
            <a:ext cx="1158722" cy="106216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4233" y="2947762"/>
            <a:ext cx="772015" cy="136481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2552256" y="2347603"/>
            <a:ext cx="1040257" cy="196162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0606" y="4629043"/>
            <a:ext cx="1571652" cy="617435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4580553" y="3765282"/>
            <a:ext cx="568109" cy="1339115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2468880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52144" y="2468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2" y="1865376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6432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92624" y="3273552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92624" y="3273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76272" y="4279392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76272" y="4279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24528" y="5084064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24528" y="5084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965960"/>
            <a:ext cx="54864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(vértice)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3500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de la red: una estación, una esquina, una parada.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4864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(arco)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7216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relación o conexión entre dos nodos: una calle, un viaje, un tramo.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709160"/>
            <a:ext cx="54864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/ atributo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0932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asociada a un eje: distancia, tiempo, cantidad de viajes.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grafos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 flipV="1">
            <a:off x="1224268" y="2469531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4358" y="2469531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297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297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23060" y="2167128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230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4315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315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dirigido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va en ambos sentidos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AF2F6"/>
          </a:solidFill>
          <a:ln/>
        </p:spPr>
      </p:sp>
      <p:sp>
        <p:nvSpPr>
          <p:cNvPr id="16" name="Shape 14"/>
          <p:cNvSpPr/>
          <p:nvPr/>
        </p:nvSpPr>
        <p:spPr>
          <a:xfrm flipV="1">
            <a:off x="3967468" y="2469531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87558" y="2469531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4617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4617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66260" y="2167128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662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8635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8635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tiene un sentido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AF2F6"/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6656883" y="2407243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764453" y="2531819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430758" y="2469531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937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8937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09460" y="2167128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094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2955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2955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Multigrafo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 eje entre el mismo par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7824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AF2F6"/>
          </a:solidFill>
          <a:ln/>
        </p:spPr>
      </p:sp>
      <p:sp>
        <p:nvSpPr>
          <p:cNvPr id="39" name="Shape 37"/>
          <p:cNvSpPr/>
          <p:nvPr/>
        </p:nvSpPr>
        <p:spPr>
          <a:xfrm flipV="1">
            <a:off x="9453868" y="2469531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73958" y="2469531"/>
            <a:ext cx="443255" cy="382747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3257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3257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852660" y="2167128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526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572750" y="2788920"/>
            <a:ext cx="365760" cy="36576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7275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989820" y="1927555"/>
            <a:ext cx="382219" cy="382219"/>
          </a:xfrm>
          <a:prstGeom prst="arc">
            <a:avLst>
              <a:gd name="adj1" fmla="val 16200000"/>
              <a:gd name="adj2" fmla="val 15600000"/>
            </a:avLst>
          </a:prstGeom>
          <a:noFill/>
          <a:ln w="22225">
            <a:solidFill>
              <a:srgbClr val="E8734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91540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Self-loop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91540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 que vuelve al mismo nodo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NUMÉRICA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matriz de adyacencia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480159" y="2656098"/>
            <a:ext cx="1172771" cy="1326348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6351" y="2656098"/>
            <a:ext cx="1172771" cy="1326348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3913632"/>
            <a:ext cx="548640" cy="5486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2176272"/>
            <a:ext cx="548640" cy="5486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96512" y="3913632"/>
            <a:ext cx="548640" cy="5486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96512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2377440"/>
            <a:ext cx="7772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0" y="2377440"/>
            <a:ext cx="7772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66760" y="2377440"/>
            <a:ext cx="7772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3154680"/>
            <a:ext cx="7772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31546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89520" y="3154680"/>
            <a:ext cx="777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66760" y="31546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3931920"/>
            <a:ext cx="7772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12280" y="3931920"/>
            <a:ext cx="777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39319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66760" y="3931920"/>
            <a:ext cx="777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6676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35040" y="4709160"/>
            <a:ext cx="77724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12280" y="47091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589520" y="4709160"/>
            <a:ext cx="777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366760" y="47091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66760" y="4709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623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indica si existe un eje entre el nodo de la fila y el de la columna. En un grafo no dirigido, la matriz es simétrica.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CUANTIFICANDO LA 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básicas de un grafo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grado(v)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ejes conectados a un nodo 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2·|E| / |V|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063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promedio de la red (ejes x2 sobre nodos)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grado por sí solo dice cuántas conexiones tiene un nodo, pero no dice qué tan importante es esa posición dentro de la red completa — para eso hace falta un paso más: centralidad.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IMPORTA EN LA RED?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 flipH="1" flipV="1">
            <a:off x="1679676" y="2552000"/>
            <a:ext cx="1317805" cy="620143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311880" y="2552000"/>
            <a:ext cx="1317805" cy="620143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679676" y="3320096"/>
            <a:ext cx="1317805" cy="620143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11880" y="3320096"/>
            <a:ext cx="1317805" cy="620143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80944" y="3072384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80944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48740" y="2304288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3148" y="2304288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8740" y="3840480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3148" y="3840480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80944" y="3072384"/>
            <a:ext cx="347472" cy="347472"/>
          </a:xfrm>
          <a:prstGeom prst="ellipse">
            <a:avLst/>
          </a:prstGeom>
          <a:solidFill>
            <a:srgbClr val="E87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 de grado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con más conexiones directas — el "hub".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EAF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030975" y="2645575"/>
            <a:ext cx="1537713" cy="54272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030975" y="3303943"/>
            <a:ext cx="1537713" cy="54272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896351" y="2645575"/>
            <a:ext cx="1537713" cy="54272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96351" y="3303943"/>
            <a:ext cx="1537713" cy="542722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3408" y="2414016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3408" y="3730752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58784" y="3072384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58784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24160" y="2414016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0" y="3730752"/>
            <a:ext cx="347472" cy="347472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8784" y="3072384"/>
            <a:ext cx="347472" cy="347472"/>
          </a:xfrm>
          <a:prstGeom prst="ellipse">
            <a:avLst/>
          </a:prstGeom>
          <a:solidFill>
            <a:srgbClr val="E87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Centralidad de intermediación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4937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que más veces aparece en los caminos más cortos — el "puente".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RECORRIENDO LA 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Caminos y shortest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135979" y="2743397"/>
            <a:ext cx="1349066" cy="1032879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90472" y="3095244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35979" y="4087565"/>
            <a:ext cx="1349066" cy="1032879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90472" y="4439412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V="1">
            <a:off x="2902391" y="4072394"/>
            <a:ext cx="1620146" cy="1063221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2424" y="4439412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02391" y="2728226"/>
            <a:ext cx="1620146" cy="1063221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92424" y="3095244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4925131" y="2760972"/>
            <a:ext cx="1085961" cy="997727"/>
          </a:xfrm>
          <a:prstGeom prst="line">
            <a:avLst/>
          </a:prstGeom>
          <a:noFill/>
          <a:ln w="31750">
            <a:solidFill>
              <a:srgbClr val="E87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8072" y="3095244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44368" y="2587752"/>
            <a:ext cx="2999232" cy="9144"/>
          </a:xfrm>
          <a:prstGeom prst="line">
            <a:avLst/>
          </a:prstGeom>
          <a:noFill/>
          <a:ln w="22225">
            <a:solidFill>
              <a:srgbClr val="5B677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123944" y="242316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" y="3675888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" y="3675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32304" y="2331720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32304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32304" y="5020056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32304" y="5020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675888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3675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331720"/>
            <a:ext cx="512064" cy="512064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10312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EAF2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866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pesos (unweighted)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26974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más corto es el que tiene menos ejes, sin importar cuánto "cuesta" cada uno.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pesos (weighted)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3977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más corto es el de menor costo total (distancia, tiempo) — puede tener más ejes y aun así ser más corto.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5029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naranja: un camino posible entre A y E.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383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uso: la red EcoBici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 2 — de la teoría a datos reales de transporte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FILA DE UNA TABLA A UNA 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dataset de viajes a un grafo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viajes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fila: estación de origen, estación de destino, duración.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0" y="324612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26280" y="23774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graphmaker()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los viajes por par origen-destino.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26680" y="324612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23774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EAF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estaciones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063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= estaciones. Ejes = viajes entre ellas.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nuevo respecto de la teoría: la elección de representación (¿dirigido? ¿multigrafo?) ahora tiene consecuencias sobre datos reales, no solo sobre un ejemplo de tres nodos.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DECISIÓN, OTRA ESCALA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¿Dirigido? ¿Multigrafo? Ahora importa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74320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2057400"/>
            <a:ext cx="475488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2057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38160" y="2057400"/>
            <a:ext cx="329184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75320" y="2057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dirigido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60604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606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 por par de estaciones, sin importar el sentido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 el volumen real de viajes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2743200" cy="77724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83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383280"/>
            <a:ext cx="4754880" cy="77724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33832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"ida" de "vuelta" entre dos estaciones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383280"/>
            <a:ext cx="3291840" cy="777240"/>
          </a:xfrm>
          <a:prstGeom prst="rect">
            <a:avLst/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fiel al patrón de uso real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Multigrafo dirigido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4160520"/>
            <a:ext cx="4754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20440" y="41605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viaje individual es un eje propio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4160520"/>
            <a:ext cx="3291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4160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el volumen total de viajes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AF2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real del dataset: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532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apareció un self-loop entre 15 de Noviembre y 25 de Mayo que no estaba en el grafo no dirigido — la representación elegida puede ocultar movimientos reales de la red.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CRECE — 2015 A 2019 (VALORES ILUSTRATIVOS)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sobre la red EcoBici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20116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EAF2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2940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Facultad de Medicina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estación más usada de la red durante 2018, según grado del nodo.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37947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EAF2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in-degree ≠ out-degree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4480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grafo dirigido, separar salidas de llegadas revela si una estación funciona más como origen o como destino en distintos momentos.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Valores ilustrativos — reemplazar con los del dataset real al dar la clase.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CAMBIA SEGÚN LA HORA (VALORES ILUSTRATIVOS)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uso horario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10881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picos: entrada (8-9hs) y salida (17-18hs) laboral — la red "respira" con la ciudad.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Valores ilustrativos — reemplazar con los del dataset real al dar la clase.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teoría al resto del laboratorio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viales reales desde OpenStreetMap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2860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Isocronas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espacial según tiempo o distancia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sobre grafos: cobertura y visita de nodos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sigue se apoya en lo mismo: nodos, ejes, grado, centralidad y caminos — solo cambia la escala y el dato de origen.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834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/ discusión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y redes de transporte — Prácticas guiadas 1 y 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2026-09-01T20:48:35Z</dcterms:created>
  <dcterms:modified xsi:type="dcterms:W3CDTF">2026-09-01T20:48:35Z</dcterms:modified>
</cp:coreProperties>
</file>