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Nunito"/>
      <p:regular r:id="rId24"/>
      <p:bold r:id="rId25"/>
      <p:italic r:id="rId26"/>
      <p:boldItalic r:id="rId27"/>
    </p:embeddedFont>
    <p:embeddedFont>
      <p:font typeface="Maven Pro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jDGP+YxFHHZfScVz80/gESqUg1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uni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MavenPro-regular.fntdata"/><Relationship Id="rId27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aven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662e47a42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662e47a42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662e47a42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662e47a42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6" name="Google Shape;366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1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3" name="Google Shape;13;p1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Google Shape;15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20" name="Google Shape;20;p2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21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26" name="Google Shape;26;p21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27" name="Google Shape;27;p21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21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" name="Google Shape;29;p21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30" name="Google Shape;30;p21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21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21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" name="Google Shape;33;p21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34" name="Google Shape;34;p21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1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1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1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" name="Google Shape;38;p21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39" name="Google Shape;39;p21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1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1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1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1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4" name="Google Shape;44;p21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45" name="Google Shape;45;p21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1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" name="Google Shape;47;p21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48" name="Google Shape;48;p21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21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21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" name="Google Shape;51;p21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" name="Google Shape;52;p21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53" name="Google Shape;53;p21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21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5" name="Google Shape;55;p21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1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1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1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1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1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21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21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2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22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66" name="Google Shape;66;p22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67" name="Google Shape;67;p22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22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" name="Google Shape;69;p22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70" name="Google Shape;70;p22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22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22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73;p22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74" name="Google Shape;74;p22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22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22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22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8" name="Google Shape;78;p22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79" name="Google Shape;79;p22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80" name="Google Shape;80;p22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22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" name="Google Shape;82;p22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83" name="Google Shape;83;p22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22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22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" name="Google Shape;86;p22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87" name="Google Shape;87;p22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22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2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22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91;p22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92" name="Google Shape;92;p22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22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22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22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22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7" name="Google Shape;97;p22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23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2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9" name="Google Shape;109;p2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2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2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15" name="Google Shape;115;p2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25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26"/>
          <p:cNvGrpSpPr/>
          <p:nvPr/>
        </p:nvGrpSpPr>
        <p:grpSpPr>
          <a:xfrm>
            <a:off x="6866714" y="1255"/>
            <a:ext cx="2267380" cy="2601741"/>
            <a:chOff x="6790514" y="1255"/>
            <a:chExt cx="2267380" cy="2601741"/>
          </a:xfrm>
        </p:grpSpPr>
        <p:grpSp>
          <p:nvGrpSpPr>
            <p:cNvPr id="122" name="Google Shape;122;p26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123" name="Google Shape;123;p26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26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26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6" name="Google Shape;126;p26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127" name="Google Shape;127;p26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26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26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26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31" name="Google Shape;131;p26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26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3" name="Google Shape;133;p26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37" name="Google Shape;137;p2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" name="Google Shape;139;p27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1" name="Google Shape;141;p27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28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45" name="Google Shape;145;p2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8" name="Google Shape;148;p2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29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51" name="Google Shape;151;p29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52" name="Google Shape;152;p2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9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9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9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" name="Google Shape;156;p29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57" name="Google Shape;157;p2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9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29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29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9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2" name="Google Shape;162;p29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63" name="Google Shape;163;p2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9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29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29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" name="Google Shape;167;p29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8" name="Google Shape;168;p2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9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9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" name="Google Shape;171;p29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72" name="Google Shape;172;p29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9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29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9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29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7" name="Google Shape;177;p29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8" name="Google Shape;178;p29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9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9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9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2" name="Google Shape;182;p29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83" name="Google Shape;183;p29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29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9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" name="Google Shape;186;p29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87" name="Google Shape;187;p29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29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29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29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29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2" name="Google Shape;192;p29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93" name="Google Shape;193;p29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9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29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9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29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8" name="Google Shape;198;p29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9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9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29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29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203" name="Google Shape;203;p29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29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29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" name="Google Shape;206;p29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07" name="Google Shape;207;p29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29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29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29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1" name="Google Shape;211;p29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12" name="Google Shape;212;p29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29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29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29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" name="Google Shape;216;p29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17" name="Google Shape;217;p29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29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29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29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29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2" name="Google Shape;222;p29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23" name="Google Shape;223;p29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29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29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29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7" name="Google Shape;227;p29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8" name="Google Shape;228;p29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29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29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" name="Google Shape;231;p29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32" name="Google Shape;232;p29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29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29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29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6" name="Google Shape;236;p29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37" name="Google Shape;237;p29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29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29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29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29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2" name="Google Shape;242;p29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43" name="Google Shape;243;p29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29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29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29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7" name="Google Shape;247;p29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8" name="Google Shape;248;p29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29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29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1" name="Google Shape;251;p29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52" name="Google Shape;252;p29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29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29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29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29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7" name="Google Shape;257;p29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8" name="Google Shape;258;p29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29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29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29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2" name="Google Shape;262;p29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63" name="Google Shape;263;p29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29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29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29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7" name="Google Shape;267;p29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8" name="Google Shape;268;p29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29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29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1" name="Google Shape;271;p29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72" name="Google Shape;272;p29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29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29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29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6" name="Google Shape;276;p29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29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p2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gif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8725" y="1120450"/>
            <a:ext cx="5543550" cy="37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"/>
          <p:cNvSpPr txBox="1"/>
          <p:nvPr>
            <p:ph idx="4294967295" type="title"/>
          </p:nvPr>
        </p:nvSpPr>
        <p:spPr>
          <a:xfrm>
            <a:off x="2196894" y="527350"/>
            <a:ext cx="41595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&lt; Introducción al curso /&gt;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"/>
          <p:cNvSpPr txBox="1"/>
          <p:nvPr>
            <p:ph idx="4294967295" type="title"/>
          </p:nvPr>
        </p:nvSpPr>
        <p:spPr>
          <a:xfrm>
            <a:off x="1794300" y="2922225"/>
            <a:ext cx="55554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¿Qué es “hacer Ciencia de datos”?</a:t>
            </a:r>
            <a:endParaRPr/>
          </a:p>
        </p:txBody>
      </p:sp>
      <p:pic>
        <p:nvPicPr>
          <p:cNvPr id="290" name="Google Shape;2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0575" y="719850"/>
            <a:ext cx="2128724" cy="212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"/>
          <p:cNvSpPr txBox="1"/>
          <p:nvPr/>
        </p:nvSpPr>
        <p:spPr>
          <a:xfrm>
            <a:off x="1134200" y="734100"/>
            <a:ext cx="66021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b="1" i="0" lang="es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PROGRAMACIÓN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La forma que tenemos de poder comunicarnos con una computadora. No hay una única forma!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b="1" i="0" lang="es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ESTADÍSTICA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Como la herramienta de un mecánico o un albañil, sin ella es poco lo que se puede hacer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b="1" i="0" lang="es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COMUNICACIÓN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Transmitir procesos complejos con claridad y en contextos interdisciplinarios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b="1" i="0" lang="es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CONOCIMIENTO DE DOMINIO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Experiencia acumulada en un campo 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6600" y="858950"/>
            <a:ext cx="6430800" cy="314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086100"/>
            <a:ext cx="222885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5"/>
          <p:cNvSpPr txBox="1"/>
          <p:nvPr>
            <p:ph idx="4294967295" type="title"/>
          </p:nvPr>
        </p:nvSpPr>
        <p:spPr>
          <a:xfrm>
            <a:off x="2509500" y="2009050"/>
            <a:ext cx="42228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¿Alguien dijo programar?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"/>
          <p:cNvSpPr txBox="1"/>
          <p:nvPr>
            <p:ph idx="4294967295" type="title"/>
          </p:nvPr>
        </p:nvSpPr>
        <p:spPr>
          <a:xfrm>
            <a:off x="594350" y="2186550"/>
            <a:ext cx="78471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… no es lo que parece, sólo hay que familiarizarse</a:t>
            </a:r>
            <a:endParaRPr/>
          </a:p>
        </p:txBody>
      </p:sp>
      <p:pic>
        <p:nvPicPr>
          <p:cNvPr id="312" name="Google Shape;3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3429000"/>
            <a:ext cx="2286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Objetivos del laboratorio</a:t>
            </a:r>
            <a:endParaRPr/>
          </a:p>
        </p:txBody>
      </p:sp>
      <p:sp>
        <p:nvSpPr>
          <p:cNvPr id="318" name="Google Shape;318;p8"/>
          <p:cNvSpPr txBox="1"/>
          <p:nvPr>
            <p:ph idx="1" type="body"/>
          </p:nvPr>
        </p:nvSpPr>
        <p:spPr>
          <a:xfrm>
            <a:off x="946725" y="16937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Char char="●"/>
            </a:pPr>
            <a:r>
              <a:rPr lang="es" sz="3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Introducir las herramientas fundamentales para el análisis de redes de transporte</a:t>
            </a:r>
            <a:br>
              <a:rPr lang="es" sz="3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endParaRPr sz="3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Char char="●"/>
            </a:pPr>
            <a:r>
              <a:rPr lang="es" sz="3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Hacerlo utilizando un abordaje programático o utilizando pensamiento computacional a través del lenguaje Python</a:t>
            </a:r>
            <a:endParaRPr sz="3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200"/>
              </a:spcAft>
              <a:buSzPct val="11764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9"/>
          <p:cNvSpPr txBox="1"/>
          <p:nvPr>
            <p:ph type="title"/>
          </p:nvPr>
        </p:nvSpPr>
        <p:spPr>
          <a:xfrm>
            <a:off x="1303800" y="598575"/>
            <a:ext cx="5893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El abordaje computacional aplicado a la resolución de problemas concretos</a:t>
            </a:r>
            <a:endParaRPr/>
          </a:p>
        </p:txBody>
      </p:sp>
      <p:sp>
        <p:nvSpPr>
          <p:cNvPr id="324" name="Google Shape;324;p9"/>
          <p:cNvSpPr txBox="1"/>
          <p:nvPr>
            <p:ph idx="1" type="body"/>
          </p:nvPr>
        </p:nvSpPr>
        <p:spPr>
          <a:xfrm>
            <a:off x="907875" y="1597875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4415"/>
              <a:buNone/>
            </a:pPr>
            <a:r>
              <a:t/>
            </a:r>
            <a:endParaRPr sz="2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0" marL="4572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ct val="59090"/>
              <a:buFont typeface="Calibri"/>
              <a:buChar char="●"/>
            </a:pPr>
            <a:r>
              <a:rPr lang="es" sz="2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Recortar áreas de estudio de manera ordenada y operacional</a:t>
            </a:r>
            <a:endParaRPr sz="2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84415"/>
              <a:buNone/>
            </a:pPr>
            <a:r>
              <a:t/>
            </a:r>
            <a:endParaRPr sz="2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0" marL="4572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59090"/>
              <a:buFont typeface="Calibri"/>
              <a:buChar char="●"/>
            </a:pPr>
            <a:r>
              <a:rPr lang="es" sz="2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Explorar y experimentar con objetos que tienen métodos y atributos</a:t>
            </a:r>
            <a:endParaRPr sz="2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84415"/>
              <a:buNone/>
            </a:pPr>
            <a:r>
              <a:t/>
            </a:r>
            <a:endParaRPr sz="2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0" marL="4572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59090"/>
              <a:buFont typeface="Calibri"/>
              <a:buChar char="●"/>
            </a:pPr>
            <a:r>
              <a:rPr lang="es" sz="2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Tareas reproducibles para resolver problemas similares</a:t>
            </a:r>
            <a:endParaRPr sz="2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84415"/>
              <a:buNone/>
            </a:pPr>
            <a:r>
              <a:t/>
            </a:r>
            <a:endParaRPr sz="2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0" marL="4572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59090"/>
              <a:buFont typeface="Calibri"/>
              <a:buChar char="●"/>
            </a:pPr>
            <a:r>
              <a:rPr lang="es" sz="2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Generación de conocimiento comunitario y colaborativo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El trabajo computacional, miremos algunos ejemplos más de cerca</a:t>
            </a:r>
            <a:endParaRPr/>
          </a:p>
        </p:txBody>
      </p:sp>
      <p:pic>
        <p:nvPicPr>
          <p:cNvPr id="330" name="Google Shape;3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6250" y="1764225"/>
            <a:ext cx="2124075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662e47a426_0_20"/>
          <p:cNvSpPr txBox="1"/>
          <p:nvPr>
            <p:ph type="title"/>
          </p:nvPr>
        </p:nvSpPr>
        <p:spPr>
          <a:xfrm>
            <a:off x="1229350" y="722650"/>
            <a:ext cx="7605900" cy="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Grafos para la representaci</a:t>
            </a:r>
            <a:r>
              <a:rPr lang="es" sz="2200"/>
              <a:t>ón de sistemas complejos </a:t>
            </a:r>
            <a:endParaRPr sz="2200"/>
          </a:p>
        </p:txBody>
      </p:sp>
      <p:pic>
        <p:nvPicPr>
          <p:cNvPr id="336" name="Google Shape;336;g3662e47a426_0_20" title="1_Baa5svge-rZ_IhvUIl5mHg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5234" y="1533100"/>
            <a:ext cx="4663465" cy="234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3662e47a426_0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767" y="1533100"/>
            <a:ext cx="3907800" cy="234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g3662e47a426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910" y="2589238"/>
            <a:ext cx="4957742" cy="249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g3662e47a426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7136" y="65540"/>
            <a:ext cx="4957796" cy="249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921" y="462334"/>
            <a:ext cx="8135251" cy="408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"/>
          <p:cNvSpPr txBox="1"/>
          <p:nvPr>
            <p:ph type="title"/>
          </p:nvPr>
        </p:nvSpPr>
        <p:spPr>
          <a:xfrm>
            <a:off x="1303800" y="662100"/>
            <a:ext cx="49269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¿Alguien dijo colaborativo?</a:t>
            </a:r>
            <a:endParaRPr/>
          </a:p>
        </p:txBody>
      </p:sp>
      <p:pic>
        <p:nvPicPr>
          <p:cNvPr id="354" name="Google Shape;3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2925" y="1385350"/>
            <a:ext cx="6346775" cy="222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524" y="2620550"/>
            <a:ext cx="5012777" cy="2314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8175" y="3692450"/>
            <a:ext cx="2292450" cy="128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2"/>
          <p:cNvSpPr txBox="1"/>
          <p:nvPr>
            <p:ph type="title"/>
          </p:nvPr>
        </p:nvSpPr>
        <p:spPr>
          <a:xfrm>
            <a:off x="1303800" y="598575"/>
            <a:ext cx="70305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La barrera de entrada</a:t>
            </a:r>
            <a:endParaRPr/>
          </a:p>
        </p:txBody>
      </p:sp>
      <p:sp>
        <p:nvSpPr>
          <p:cNvPr id="362" name="Google Shape;362;p12"/>
          <p:cNvSpPr txBox="1"/>
          <p:nvPr>
            <p:ph idx="1" type="body"/>
          </p:nvPr>
        </p:nvSpPr>
        <p:spPr>
          <a:xfrm>
            <a:off x="4788650" y="1840650"/>
            <a:ext cx="30852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Puede resultar un mundo nuevo, por eso hay que entender que la barrera de entrada puede ser alta.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No se trata de aprender python sino de aprender a programar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Leer las sentencias, releerlas, cambiar parámetros y re-ejecutar, etc.</a:t>
            </a:r>
            <a:endParaRPr/>
          </a:p>
        </p:txBody>
      </p:sp>
      <p:pic>
        <p:nvPicPr>
          <p:cNvPr id="363" name="Google Shape;36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0400" y="1548575"/>
            <a:ext cx="2112916" cy="324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3"/>
          <p:cNvSpPr txBox="1"/>
          <p:nvPr>
            <p:ph type="title"/>
          </p:nvPr>
        </p:nvSpPr>
        <p:spPr>
          <a:xfrm>
            <a:off x="378625" y="1696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s" sz="2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 txBox="1"/>
          <p:nvPr>
            <p:ph idx="1" type="body"/>
          </p:nvPr>
        </p:nvSpPr>
        <p:spPr>
          <a:xfrm>
            <a:off x="628650" y="1059651"/>
            <a:ext cx="7886700" cy="3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s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Python es un lenguaje de programación interpretado cuya filosofía hace hincapié en una sintaxis que favorezca un código legible. Fue desarrollado por Guido van Rossum</a:t>
            </a:r>
            <a:endParaRPr sz="2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s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 trata de un lenguaje de programación orientado a objetos.</a:t>
            </a:r>
            <a:endParaRPr sz="2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s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Actualmente solo soporta la versión 3. </a:t>
            </a:r>
            <a:endParaRPr sz="2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s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 licencia es libre y compatible con GPL (GNU Public License).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ython-logo-notext.svg" id="370" name="Google Shape;3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6627" y="273844"/>
            <a:ext cx="785813" cy="785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4600" y="2534400"/>
            <a:ext cx="1914100" cy="19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9700" y="3073613"/>
            <a:ext cx="1545925" cy="12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9350" y="2792963"/>
            <a:ext cx="1914100" cy="1914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4"/>
          <p:cNvSpPr txBox="1"/>
          <p:nvPr>
            <p:ph type="title"/>
          </p:nvPr>
        </p:nvSpPr>
        <p:spPr>
          <a:xfrm>
            <a:off x="1255300" y="773425"/>
            <a:ext cx="78237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320"/>
              <a:t>… pero, ¿python es la única herramienta válida?</a:t>
            </a:r>
            <a:endParaRPr sz="2320"/>
          </a:p>
        </p:txBody>
      </p:sp>
      <p:sp>
        <p:nvSpPr>
          <p:cNvPr id="379" name="Google Shape;379;p14"/>
          <p:cNvSpPr txBox="1"/>
          <p:nvPr>
            <p:ph type="title"/>
          </p:nvPr>
        </p:nvSpPr>
        <p:spPr>
          <a:xfrm>
            <a:off x="1349850" y="1549375"/>
            <a:ext cx="69021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¡Claro que no!, sólo la que llegamos a ver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"/>
              <a:t>Caja de herramientas</a:t>
            </a:r>
            <a:endParaRPr/>
          </a:p>
        </p:txBody>
      </p:sp>
      <p:sp>
        <p:nvSpPr>
          <p:cNvPr id="385" name="Google Shape;385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s"/>
              <a:t>Utilizaremos fundamentalmente el entorno de Google Drive.  Tendrán acceso a un directorio compartido donde podrán ver e interactuar con los notebooks.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None/>
            </a:pPr>
            <a:r>
              <a:rPr lang="es"/>
              <a:t>Por un lado veremos el código en estos notebooks utilizando Colab.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SzPts val="2100"/>
              <a:buNone/>
            </a:pPr>
            <a:r>
              <a:rPr lang="es"/>
              <a:t>Los archivos de datos que usemos estarán</a:t>
            </a:r>
            <a:br>
              <a:rPr lang="es"/>
            </a:br>
            <a:r>
              <a:rPr lang="es"/>
              <a:t>en el Drive compartido. Pero es importante</a:t>
            </a:r>
            <a:br>
              <a:rPr lang="es"/>
            </a:br>
            <a:r>
              <a:rPr lang="es"/>
              <a:t>que cada uno tenga </a:t>
            </a:r>
            <a:r>
              <a:rPr b="1" lang="es"/>
              <a:t>una copia propia</a:t>
            </a:r>
            <a:br>
              <a:rPr lang="es"/>
            </a:br>
            <a:r>
              <a:rPr lang="es"/>
              <a:t>en su Drive personal.</a:t>
            </a:r>
            <a:endParaRPr/>
          </a:p>
        </p:txBody>
      </p:sp>
      <p:pic>
        <p:nvPicPr>
          <p:cNvPr id="386" name="Google Shape;3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6000" y="3076301"/>
            <a:ext cx="3602800" cy="191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s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Librerías de Python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librerías de Python pueden considerarse como plug-ins, funcionalidades adicionales desarrolladas por la comunidad que le suman herramientas al programa original. 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eso la importancia de usar software libre, puede canalizarse la energía de una comunidad dispersa a nivel mundial con enorme potencial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9700" marR="0" rtl="0" algn="just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